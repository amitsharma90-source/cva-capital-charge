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3152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B4CC"/>
                </a:solidFill>
                <a:latin typeface="Calibri"/>
              </a:rPr>
              <a:t>MARKET RISK  ·  CVA  ·  BA-CVA (FULL VERSION)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BA-CVA Capital for the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Derivatives Counterparty 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418965"/>
            <a:ext cx="20116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D8E2"/>
                </a:solidFill>
                <a:latin typeface="Calibri"/>
              </a:rPr>
              <a:t>From given netting-set EAD and computed effective maturity to a single, auditable CVA risk charge — the full BA-CVA with hedge recognition (MAR50.1, 50.13–50.26).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10451592" cy="713232"/>
          </a:xfrm>
          <a:prstGeom prst="rect">
            <a:avLst/>
          </a:prstGeom>
          <a:solidFill>
            <a:srgbClr val="16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60527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$313.7m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94360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DB4CC"/>
                </a:solidFill>
                <a:latin typeface="Calibri"/>
              </a:rPr>
              <a:t>RWA (full BA-CVA)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2746" y="560527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2746" y="594360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DB4CC"/>
                </a:solidFill>
                <a:latin typeface="Calibri"/>
              </a:rPr>
              <a:t>counterparties (IG + HY)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5228" y="565099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5644" y="560527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594360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DB4CC"/>
                </a:solidFill>
                <a:latin typeface="Calibri"/>
              </a:rPr>
              <a:t>netting 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8126" y="565099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8542" y="560527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8542" y="594360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DB4CC"/>
                </a:solidFill>
                <a:latin typeface="Calibri"/>
              </a:rPr>
              <a:t>single-name + index hedges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1024" y="565099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40080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E97B0"/>
                </a:solidFill>
                <a:latin typeface="Calibri"/>
              </a:rPr>
              <a:t>Basel BA-CVA engine  ·  illustrative reference book  ·  all figures computed by the live Python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WHY THESE TRANSACTIONS  ·  CRE51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CCR — and hence CVA — arises wherever both parties can lose from the other's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loan is </a:t>
            </a:r>
            <a:r>
              <a:rPr sz="1250" b="1" i="0">
                <a:solidFill>
                  <a:srgbClr val="0E2C4B"/>
                </a:solidFill>
                <a:latin typeface="Calibri"/>
              </a:rPr>
              <a:t>unilateral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— only the lender is at risk (CRE51.2). A derivative or SFT carries a </a:t>
            </a:r>
            <a:r>
              <a:rPr sz="1250" b="1" i="0">
                <a:solidFill>
                  <a:srgbClr val="C2453C"/>
                </a:solidFill>
                <a:latin typeface="Calibri"/>
              </a:rPr>
              <a:t>bilateral risk of loss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(CRE51.3): its value swings either way, so each side faces the other's default whenever the contract is in-the-money to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94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THE TRANSACTIONS THAT GIVE RISE TO CCR  (CRE51.4)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78608"/>
            <a:ext cx="2633472" cy="45720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78608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OTC derivatives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578608"/>
            <a:ext cx="2633472" cy="45720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2578608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Exchange-traded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578608"/>
            <a:ext cx="2633472" cy="45720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578608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Long-settlement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578608"/>
            <a:ext cx="2633472" cy="45720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6256" y="2578608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SFTs (fair-valued)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10128"/>
            <a:ext cx="5394960" cy="155448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310128"/>
            <a:ext cx="539496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747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55574"/>
                </a:solidFill>
                <a:latin typeface="Calibri"/>
              </a:rPr>
              <a:t>DEFAULT SLICE  →  CCR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risk the counterparty defaults while the trade is in-the-money to the bank. Capitalised as EAD via SA-CCR (CRE52) — the GIVEN input to this engine.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310128"/>
            <a:ext cx="5394960" cy="15544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3310128"/>
            <a:ext cx="539496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747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453C"/>
                </a:solidFill>
                <a:latin typeface="Calibri"/>
              </a:rPr>
              <a:t>SPREAD-DETERIORATION SLICE  →  CVA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mark-to-market loss as the counterparty's creditworthiness deteriorates — before any default. Footnote 2 to CRE51.3 names this the CVA risk of MAR50 — what BA-CVA capitalises.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138928"/>
            <a:ext cx="11057839" cy="7498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138928"/>
            <a:ext cx="82296" cy="7498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138928"/>
            <a:ext cx="106006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Same trades, two slices of risk: CCR (SA-CCR) capitalises the counterparty actually defaulting; CVA — this deck — capitalises the MtM hit as its spread widens. Trades cleared with a QCCP are excluded from both.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CRE51.2–51.4 (bilateral risk, categories); CRE51.3 fn2 (CVA link to MAR50)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FRAMEWORK LANDSCAPE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BA-CVA is one of several orthogonal charges on the same book — each capturing a different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One trading-book derivative can attract several capital charges at once. They are not nested — each captures a </a:t>
            </a:r>
            <a:r>
              <a:rPr sz="1250" b="1" i="0">
                <a:solidFill>
                  <a:srgbClr val="0E2C4B"/>
                </a:solidFill>
                <a:latin typeface="Calibri"/>
              </a:rPr>
              <a:t>different risk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on the same trade.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21408"/>
            <a:ext cx="5440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21408"/>
            <a:ext cx="73152" cy="1207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49424"/>
            <a:ext cx="4983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5574"/>
                </a:solidFill>
                <a:latin typeface="Calibri"/>
              </a:rPr>
              <a:t>MARKET RISK</a:t>
            </a:r>
            <a:r>
              <a:rPr sz="1050" b="1" i="0">
                <a:solidFill>
                  <a:srgbClr val="6A6A6A"/>
                </a:solidFill>
                <a:latin typeface="Calibri"/>
              </a:rPr>
              <a:t>   MAR20–30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96896"/>
            <a:ext cx="4983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underlying price moves (rates / FX) — SBM / 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08376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A6A"/>
                </a:solidFill>
                <a:latin typeface="Calibri"/>
              </a:rPr>
              <a:t>Book scope:  </a:t>
            </a:r>
            <a:r>
              <a:rPr sz="1050" b="1" i="0">
                <a:solidFill>
                  <a:srgbClr val="355574"/>
                </a:solidFill>
                <a:latin typeface="Calibri"/>
              </a:rPr>
              <a:t>Trading book (+ FX/comm in BB)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2121408"/>
            <a:ext cx="5440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121408"/>
            <a:ext cx="73152" cy="1207008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49424"/>
            <a:ext cx="4983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7B99"/>
                </a:solidFill>
                <a:latin typeface="Calibri"/>
              </a:rPr>
              <a:t>CCR DEFAULT</a:t>
            </a:r>
            <a:r>
              <a:rPr sz="1050" b="1" i="0">
                <a:solidFill>
                  <a:srgbClr val="6A6A6A"/>
                </a:solidFill>
                <a:latin typeface="Calibri"/>
              </a:rPr>
              <a:t>   CRE52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96896"/>
            <a:ext cx="4983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counterparty defaults — EAD × risk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008376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A6A"/>
                </a:solidFill>
                <a:latin typeface="Calibri"/>
              </a:rPr>
              <a:t>Book scope:  </a:t>
            </a:r>
            <a:r>
              <a:rPr sz="1050" b="1" i="0">
                <a:solidFill>
                  <a:srgbClr val="5B7B99"/>
                </a:solidFill>
                <a:latin typeface="Calibri"/>
              </a:rPr>
              <a:t>Both books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529584"/>
            <a:ext cx="5440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29584"/>
            <a:ext cx="73152" cy="1207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57600"/>
            <a:ext cx="4983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453C"/>
                </a:solidFill>
                <a:latin typeface="Calibri"/>
              </a:rPr>
              <a:t>CVA</a:t>
            </a:r>
            <a:r>
              <a:rPr sz="1050" b="1" i="0">
                <a:solidFill>
                  <a:srgbClr val="6A6A6A"/>
                </a:solidFill>
                <a:latin typeface="Calibri"/>
              </a:rPr>
              <a:t>   MAR50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05072"/>
            <a:ext cx="4983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counterparty's spread widens (MtM loss) — this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41655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A6A"/>
                </a:solidFill>
                <a:latin typeface="Calibri"/>
              </a:rPr>
              <a:t>Book scope:  </a:t>
            </a:r>
            <a:r>
              <a:rPr sz="1050" b="1" i="0">
                <a:solidFill>
                  <a:srgbClr val="C2453C"/>
                </a:solidFill>
                <a:latin typeface="Calibri"/>
              </a:rPr>
              <a:t>Both books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529584"/>
            <a:ext cx="5440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529584"/>
            <a:ext cx="73152" cy="120700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57600"/>
            <a:ext cx="4983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2E"/>
                </a:solidFill>
                <a:latin typeface="Calibri"/>
              </a:rPr>
              <a:t>DRC</a:t>
            </a:r>
            <a:r>
              <a:rPr sz="1050" b="1" i="0">
                <a:solidFill>
                  <a:srgbClr val="6A6A6A"/>
                </a:solidFill>
                <a:latin typeface="Calibri"/>
              </a:rPr>
              <a:t>   MAR22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005072"/>
            <a:ext cx="4983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 referenced issuer defaults (credit / equity underlyings)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41655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A6A"/>
                </a:solidFill>
                <a:latin typeface="Calibri"/>
              </a:rPr>
              <a:t>Book scope:  </a:t>
            </a:r>
            <a:r>
              <a:rPr sz="1050" b="1" i="0">
                <a:solidFill>
                  <a:srgbClr val="B8862E"/>
                </a:solidFill>
                <a:latin typeface="Calibri"/>
              </a:rPr>
              <a:t>Trading 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864608"/>
            <a:ext cx="11057839" cy="9144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864608"/>
            <a:ext cx="82296" cy="9144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864608"/>
            <a:ext cx="10600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Same trade, several charges, each a different risk. Crucially the book scope differs: market risk and DRC are trading-book, but CCR and CVA follow the counterparty across BOTH books — default and spread risk attach to the counterparty, not the position.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MAR20–30 (market risk), CRE52 (CCR), MAR50 (CVA), MAR22 (DRC)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FRAMEWORK LANDSCAPE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Each risk is charged once — explicit carve-outs keep the frameworks disjoint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CVA hedge is market-risk sensitive, so it looks like it should sit in both market risk and CVA. The rulebook deliberately routes each risk to exactly one charge.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488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6118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31343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ELIGIBLE CVA HEDGES → CVA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25496"/>
            <a:ext cx="32095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6A6A6A"/>
                </a:solidFill>
                <a:latin typeface="Calibri"/>
              </a:rPr>
              <a:t>MAR50.11(2)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81528"/>
            <a:ext cx="3209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An eligible external hedge is EXCLUDED from market-risk capital (MAR10–40) and lives only in the CVA portfolio — its spread risk is charged once, in CVA.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1488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148840"/>
            <a:ext cx="361188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1343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55574"/>
                </a:solidFill>
                <a:latin typeface="Calibri"/>
              </a:rPr>
              <a:t>QCCP-CLEARED TRADES → NOT CVA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25496"/>
            <a:ext cx="32095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6A6A6A"/>
                </a:solidFill>
                <a:latin typeface="Calibri"/>
              </a:rPr>
              <a:t>MAR50.5 / CRE54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81528"/>
            <a:ext cx="3209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 derivative cleared with a qualified CCP is not a covered transaction — no CVA charge; it sits in the CCP framework (CRE54). We model this with the Cleared_QCCP flag (our CDX hedges).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21488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6" y="2148840"/>
            <a:ext cx="3611880" cy="64008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31343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7B99"/>
                </a:solidFill>
                <a:latin typeface="Calibri"/>
              </a:rPr>
              <a:t>INELIGIBLE HEDGES → MARKET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825496"/>
            <a:ext cx="32095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6A6A6A"/>
                </a:solidFill>
                <a:latin typeface="Calibri"/>
              </a:rPr>
              <a:t>MAR50.11(3)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81528"/>
            <a:ext cx="3209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 credit position that isn't an eligible CVA hedge stays in the trading book under MAR10–40 — it lands in exactly one perimeter.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26280"/>
            <a:ext cx="11057839" cy="7315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526280"/>
            <a:ext cx="82296" cy="73152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526280"/>
            <a:ext cx="10600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The circles overlap, but no instrument pays twice for the same thing. Our engine models the CVA slice; market risk (MAR20–30) is a separate framework, out of this project's scope.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440680"/>
            <a:ext cx="11057839" cy="65836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440680"/>
            <a:ext cx="82296" cy="65836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440680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862E"/>
                </a:solidFill>
                <a:latin typeface="Calibri"/>
              </a:rPr>
              <a:t>IN THIS MODEL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This is why our eligible CDS/CDX hedges never appear in a market-risk charge here — they are, by MAR50.11(2), CVA-portfolio instruments.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MAR50.11(2)/(3) (hedges), MAR50.5 / CRE54 (QCCP clearing)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OBJECTIVE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Quantify CVA risk on the derivatives book as one auditable capital number — the full BA-CVA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CVA risk is the mark-to-market loss when a counterparty's </a:t>
            </a:r>
            <a:r>
              <a:rPr sz="1350" b="1" i="0">
                <a:solidFill>
                  <a:srgbClr val="0E2C4B"/>
                </a:solidFill>
                <a:latin typeface="Calibri"/>
              </a:rPr>
              <a:t>credit spread widens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 — not its default. BA-CVA is the </a:t>
            </a:r>
            <a:r>
              <a:rPr sz="1350" b="1" i="0">
                <a:solidFill>
                  <a:srgbClr val="0E2C4B"/>
                </a:solidFill>
                <a:latin typeface="Calibri"/>
              </a:rPr>
              <a:t>simpler of the two CVA approaches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used by banks without SA-CVA approval (MAR50.7).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5176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578608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C4B"/>
                </a:solidFill>
                <a:latin typeface="Calibri"/>
              </a:rPr>
              <a:t>Approach.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Full BA-CVA — reduced charge plus recognition of single-name and index credit hedges (MAR50.13–50.26). SA-CVA is out of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930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419856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C4B"/>
                </a:solidFill>
                <a:latin typeface="Calibri"/>
              </a:rPr>
              <a:t>Exposure.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Non-IMM. EAD per netting set is GIVEN (the SA-CCR output); M_NS and the discount factor are COMPUTED. BA-CVA consumes SA-CCR EAD — it does not replace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33425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61104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C4B"/>
                </a:solidFill>
                <a:latin typeface="Calibri"/>
              </a:rPr>
              <a:t>Output.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One stand-alone CVA charge aggregated across counterparties with a single correlation, then scaled to RWA (× 12.5).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517904"/>
            <a:ext cx="4297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517904"/>
            <a:ext cx="42976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1682496"/>
            <a:ext cx="4005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500" b="1" i="0">
                <a:solidFill>
                  <a:srgbClr val="C2453C"/>
                </a:solidFill>
                <a:latin typeface="Calibri"/>
              </a:rPr>
              <a:t>$313.7m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2157984"/>
            <a:ext cx="40050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RWA — full BA-CVA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4" y="2432304"/>
            <a:ext cx="400507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= 12.5 × DS × K_full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852928"/>
            <a:ext cx="20574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2852928"/>
            <a:ext cx="205740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301752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$25.1m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3493008"/>
            <a:ext cx="1764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3675888"/>
            <a:ext cx="176479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= DS × K_full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852928"/>
            <a:ext cx="20574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2852928"/>
            <a:ext cx="205740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301752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355574"/>
                </a:solidFill>
                <a:latin typeface="Calibri"/>
              </a:rPr>
              <a:t>$541.0m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3493008"/>
            <a:ext cx="1764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Total EAD (given)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3675888"/>
            <a:ext cx="176479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across netting 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On $541.0m of given EAD across 8 counterparties, the full BA-CVA draws $25.1m of capital ($313.7m RWA) — and the engine computes every step, including the effective maturity and the hedge benefit.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MAR50.1, 50.7, 50.13–50.26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phase5_k_full.py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phase5_k_full.xlsx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WHO BA-CVA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BA-CVA is the default CVA charge — for banks without the SA-CVA machinery, not the marquee dealers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MAR50.7: banks 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must use BA-CVA unless they receive approval for SA-CVA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. SA-CVA needs a CVA-sensitivities engine and a dedicated CVA desk — so the largest dealers tend to run SA-CVA, and BA-CVA is the approach for everyone else.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3172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361188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55574"/>
                </a:solidFill>
                <a:latin typeface="Calibri"/>
              </a:rPr>
              <a:t>MID-SIZE &amp; REGIONAL BANKS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35224"/>
            <a:ext cx="3209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Run material derivatives books but lack the CVA-sensitivities infrastructure and CVA desk that SA-CVA approval requires.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233172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2331720"/>
            <a:ext cx="3611880" cy="64008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7B99"/>
                </a:solidFill>
                <a:latin typeface="Calibri"/>
              </a:rPr>
              <a:t>MATERIALITY OPT-OUTS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35224"/>
            <a:ext cx="3209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Banks with ≤ €100bn non-centrally-cleared notional may even set CVA capital = 100% of CCR capital (MAR50.9) — BA-CVA is the next step 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233172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2331720"/>
            <a:ext cx="3611880" cy="6400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51460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8862E"/>
                </a:solidFill>
                <a:latin typeface="Calibri"/>
              </a:rPr>
              <a:t>SA-CVA CARVE-OUTS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935224"/>
            <a:ext cx="32095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SA-CVA banks must use BA-CVA for any netting set carved out of SA-CVA approval (MAR50.8) — so even large dealers run BA-CVA on the side.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17720"/>
            <a:ext cx="11057839" cy="7315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17720"/>
            <a:ext cx="82296" cy="73152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17720"/>
            <a:ext cx="10600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The intuition is backwards from instinct: the biggest sell-side dealers mostly run SA-CVA (they have CVA desks). BA-CVA is the proportionate default — for smaller/regional banks, materiality opt-outs, and carved-out netting sets at larger firms.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532120"/>
            <a:ext cx="11057839" cy="65836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532120"/>
            <a:ext cx="82296" cy="65836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532120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862E"/>
                </a:solidFill>
                <a:latin typeface="Calibri"/>
              </a:rPr>
              <a:t>NOTE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Specific institutions' approach choices are supervisory and not publicly disclosed — this slide describes the regulatory profile of a typical BA-CVA user.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MAR50.7 (approval), MAR50.8 (carve-out), MAR50.9 (materiality)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THE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Four input tables drive the engine — netting sets, trades, single-name hedges and index hedges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5532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73152" cy="13716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27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Netting_Sets</a:t>
            </a:r>
            <a:r>
              <a:rPr sz="1100" b="1" i="0">
                <a:solidFill>
                  <a:srgbClr val="0E2C4B"/>
                </a:solidFill>
                <a:latin typeface="Calibri"/>
              </a:rPr>
              <a:t>   11 netting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48256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Counterparty, Sector, Credit Quality, Region, and the GIVEN EAD per netting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481328"/>
            <a:ext cx="5532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481328"/>
            <a:ext cx="73152" cy="137160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27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Covered_Transactions</a:t>
            </a:r>
            <a:r>
              <a:rPr sz="1100" b="1" i="0">
                <a:solidFill>
                  <a:srgbClr val="355574"/>
                </a:solidFill>
                <a:latin typeface="Calibri"/>
              </a:rPr>
              <a:t>   34 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48256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Trade-level product, notional and dates — consumed only to COMPUTE M_NS (CRE32.49).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72384"/>
            <a:ext cx="5532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072384"/>
            <a:ext cx="73152" cy="1371600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2186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SingleName_Hedges</a:t>
            </a:r>
            <a:r>
              <a:rPr sz="1100" b="1" i="0">
                <a:solidFill>
                  <a:srgbClr val="5B7B99"/>
                </a:solidFill>
                <a:latin typeface="Calibri"/>
              </a:rPr>
              <a:t>   3 hedges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639312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Reference name, the counterparty hedged, and the relationship that sets r_hc (direct / legal / sector-region).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3072384"/>
            <a:ext cx="5532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3072384"/>
            <a:ext cx="73152" cy="137160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2186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Index_Hedges</a:t>
            </a:r>
            <a:r>
              <a:rPr sz="1100" b="1" i="0">
                <a:solidFill>
                  <a:srgbClr val="B8862E"/>
                </a:solidFill>
                <a:latin typeface="Calibri"/>
              </a:rPr>
              <a:t>   2 indices (225 names)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639312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CDX.NA.IG + CDX.NA.HY, each with a look-through constituents table → name-weighted risk weight × 0.7.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26280"/>
            <a:ext cx="11057839" cy="7315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526280"/>
            <a:ext cx="82296" cy="73152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526280"/>
            <a:ext cx="10600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Clean separation: regulatory constants live in a config workbook; market/portfolio data lives in the input book. EAD is given; everything else — M_NS, DF, SCVA, the hedge terms, the index RW — is computed.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440680"/>
            <a:ext cx="11057839" cy="658368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440680"/>
            <a:ext cx="82296" cy="6583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440680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5B"/>
                </a:solidFill>
                <a:latin typeface="Calibri"/>
              </a:rPr>
              <a:t>DESIGN RULE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Every constant (α, ρ, β, DS, the risk-weight and correlation tables) is read from BA_CVA_Config.xlsx at runtime — no regulatory number is hardcoded in the Python.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Input/CVA_CCR book.xlsx + Input/BA_CVA_Config.xlsx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phase1_inputs.py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EFFECTIVE MATURITY  ·  HIGHLIGHTED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M_NS is computed — notional-weighted trade maturity (CRE32.49), no 5-year cap, long/short irrelevant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126480" cy="71323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44752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M_NS  =  Σ |Notional_i| · M_i  ÷  Σ |Notional_i|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DB4CC"/>
                </a:solidFill>
                <a:latin typeface="Calibri"/>
              </a:rPr>
              <a:t>CRE32.49 — derivatives under a master netting 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68296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95144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No 5-year cap.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MAR50.15(2) removes CRE32's 5y cap for CVA — a 7y SFT keeps M=7.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44952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97180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Absolute notional.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CRE32.49 weights by gross notional; signed weighting can go negative or blow up, so long/short is irrelevant for M_NS.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21608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648456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Swaption = settlement.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M_i runs to the underlying swap's final settlement (exercise + tenor), not the option 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716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1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Computed M_NS per netting set</a:t>
            </a:r>
          </a:p>
        </p:txBody>
      </p:sp>
      <p:pic>
        <p:nvPicPr>
          <p:cNvPr id="14" name="Picture 13" descr="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663440" cy="289691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M_NS is the headline computed input: it turns a static given EAD into an exposure-over-time measure — the longer the netting set lives, the more CVA it carries.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CRE32.49; MAR50.15(2) (no 5y cap)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maturity.py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phase1_inputs.xlsx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DF &amp; SCVA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SCVA turns given EAD into a stand-alone CVA charge per counterparty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57839" cy="71323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7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SCVA_c  =  (1/α) · RW_c · Σ_NS ( M_NS · EAD_NS · DF_NS 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68296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95144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DF — the missing discount.  </a:t>
            </a:r>
            <a:r>
              <a:rPr sz="1130" b="0" i="0">
                <a:solidFill>
                  <a:srgbClr val="1A1A1A"/>
                </a:solidFill>
                <a:latin typeface="Calibri"/>
              </a:rPr>
              <a:t>DF = (1−e^(−0.05·M))/(0.05·M). Non-IMM M is undiscounted, so DF supplies the present-value weighting (=1 for IMM).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71800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898648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M·EAD·DF — area proxy.  </a:t>
            </a:r>
            <a:r>
              <a:rPr sz="1130" b="0" i="0">
                <a:solidFill>
                  <a:srgbClr val="1A1A1A"/>
                </a:solidFill>
                <a:latin typeface="Calibri"/>
              </a:rPr>
              <a:t>The inner term is a proxy for the discounted exposure profile; EAD enters as given, untouched.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575304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502152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1/α — strip the buffer.  </a:t>
            </a:r>
            <a:r>
              <a:rPr sz="1130" b="0" i="0">
                <a:solidFill>
                  <a:srgbClr val="1A1A1A"/>
                </a:solidFill>
                <a:latin typeface="Calibri"/>
              </a:rPr>
              <a:t>Given EAD carries α=1.4's 40% conservatism; SCVA divides it back out to recover EEPE.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78808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105656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RW_c — sector × quality.  </a:t>
            </a:r>
            <a:r>
              <a:rPr sz="1130" b="0" i="0">
                <a:solidFill>
                  <a:srgbClr val="1A1A1A"/>
                </a:solidFill>
                <a:latin typeface="Calibri"/>
              </a:rPr>
              <a:t>From MAR50.16 Table 1 — e.g. IG financial = 5%.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4028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2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SCVA per counterparty</a:t>
            </a:r>
          </a:p>
        </p:txBody>
      </p:sp>
      <p:pic>
        <p:nvPicPr>
          <p:cNvPr id="16" name="Picture 15" descr="sc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514600"/>
            <a:ext cx="4572000" cy="264064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SCVA is each counterparty's stand-alone CVA capital — the building block. Three of the four moving parts (M_NS, DF, RW) are computed; only EAD is given.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MAR50.15–16; 50.15 fn3 (DF)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phase2_scva.py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phase2_scva.xlsx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K_REDUCED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K_reduced aggregates SCVA with diversification — a systematic and an idiosyncratic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400800" cy="71323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K_reduced = √[ (ρ·Σ SCVA_c)² + (1−ρ²)·Σ SCVA_c²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DB4CC"/>
                </a:solidFill>
                <a:latin typeface="Calibri"/>
              </a:rPr>
              <a:t>MAR50.14 — ρ = 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14016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40864"/>
            <a:ext cx="6035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First term = systematic.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Sum-then-square keeps the cross-terms → counterparties moving together (a market-wide credit shock).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163824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090672"/>
            <a:ext cx="6035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Second term = idiosyncratic.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Square-then-sum drops cross-terms → name-specific, diversifying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13632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840480"/>
            <a:ext cx="6035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Diversification.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Σ SCVA = $89.1m, but K_reduced = $55.2m — less than the naive sum because spreads aren't perfectly correlated.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3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Systematic + idiosyncratic → K²</a:t>
            </a:r>
          </a:p>
        </p:txBody>
      </p:sp>
      <p:pic>
        <p:nvPicPr>
          <p:cNvPr id="14" name="Picture 13" descr="kredu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514600"/>
            <a:ext cx="4206240" cy="26289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K_reduced is the no-hedge charge (and the floor for the full version). The √-of-two-terms is the single-factor model: shared systematic risk plus diversifying idiosyncratic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phase3_k_reduced.py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phase3_k_reduced.xlsx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OPERATING MODEL  ·  THE CVA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Trading desks outsource their CVA charge to a central CVA desk — which then hedges it externally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CVA risk is born on every client trade but managed centrally: each desk pays an internal CVA transfer charge to the </a:t>
            </a:r>
            <a:r>
              <a:rPr sz="1250" b="1" i="0">
                <a:solidFill>
                  <a:srgbClr val="0E2C4B"/>
                </a:solidFill>
                <a:latin typeface="Calibri"/>
              </a:rPr>
              <a:t>CVA / xVA desk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, which owns and hedges the counterparty-spread risk of the whole 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40280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240280"/>
            <a:ext cx="3383280" cy="41148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TRADING DESKS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Rates · FX · Commodities · Credit. Originate client derivatives — each generating counterparty CVA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271576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2240280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2240280"/>
            <a:ext cx="3383280" cy="4114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240280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CENTRAL CVA 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77063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Charges each desk an internal CVA transfer price; aggregates all counterparty-spread risk into one managed book.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71576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8" y="2240280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9328" y="2240280"/>
            <a:ext cx="3383280" cy="41148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240280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MARKET HEDGES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77063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Buys single-name CDS (bilateral) and index CDX (cleared) to reduce the BA-CVA charge.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77639"/>
            <a:ext cx="11057839" cy="9144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77639"/>
            <a:ext cx="82296" cy="9144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77639"/>
            <a:ext cx="10600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Capital perimeter: an eligible EXTERNAL hedge is excluded from market-risk capital (MAR50.11(2)) — it lives only in the CVA portfolio. An INTERNAL hedge's trading-desk leg sits in the trading book (50.11(4)(b)), but 50.11(5) forces an exact external offset, so it nets ~flat.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11057839" cy="71323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029200"/>
            <a:ext cx="82296" cy="713232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29200"/>
            <a:ext cx="106006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862E"/>
                </a:solidFill>
                <a:latin typeface="Calibri"/>
              </a:rPr>
              <a:t>KEY POINT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So centralisation and the market-risk exclusion are not in conflict: the central desk can hedge externally and keep CVA hedges out of the MAR20–30 perimeter entirely.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MAR50.11 (hedge booking &amp; capital perimeter)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CAPITAL PERIMETER  ·  WHO HOLDS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Each charge sits at exactly one desk — and only the externally-placed notional earns hedge credit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4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which charge sits at which desk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56692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2011680"/>
                <a:gridCol w="22402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Desk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Market risk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CVA capital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Trading desk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C4B"/>
                          </a:solidFill>
                          <a:latin typeface="Calibri"/>
                        </a:rPr>
                        <a:t>✓ its own trades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A6A6A"/>
                          </a:solidFill>
                          <a:latin typeface="Calibri"/>
                        </a:rPr>
                        <a:t>✗ paid away (transfer price)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CVA desk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A6A6A"/>
                          </a:solidFill>
                          <a:latin typeface="Calibri"/>
                        </a:rPr>
                        <a:t>✗ hedges excluded · 50.11(2)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2453C"/>
                          </a:solidFill>
                          <a:latin typeface="Calibri"/>
                        </a:rPr>
                        <a:t>✓ whole book — floored β·K_red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Credit desk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55574"/>
                          </a:solidFill>
                          <a:latin typeface="Calibri"/>
                        </a:rPr>
                        <a:t>~0 · internal+external cancel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A6A6A"/>
                          </a:solidFill>
                          <a:latin typeface="Calibri"/>
                        </a:rPr>
                        <a:t>✗ pass-through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69080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Trading desks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keep market risk; the </a:t>
            </a:r>
            <a:r>
              <a:rPr sz="1150" b="1" i="0">
                <a:solidFill>
                  <a:srgbClr val="C2453C"/>
                </a:solidFill>
                <a:latin typeface="Calibri"/>
              </a:rPr>
              <a:t>CVA desk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owns the whole book's CVA — smaller after hedging, but never below </a:t>
            </a:r>
            <a:r>
              <a:rPr sz="1150" b="1" i="0">
                <a:solidFill>
                  <a:srgbClr val="C2453C"/>
                </a:solidFill>
                <a:latin typeface="Calibri"/>
              </a:rPr>
              <a:t>β·K_reduced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. The conduit nets flat. No charge is paid twice, none falls through a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8132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5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recognised hedge = external notional only  (illustrative)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E2C4B"/>
                </a:solidFill>
                <a:latin typeface="Calibri"/>
              </a:rPr>
              <a:t>$100m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counterparty CVA exposure the CVA desk now manages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304288"/>
            <a:ext cx="4023360" cy="7315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69880" y="2304288"/>
            <a:ext cx="1005840" cy="73152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2532888"/>
            <a:ext cx="3749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$80m hedged externally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532888"/>
            <a:ext cx="868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$20m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429000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340156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$80m placed with the market (CDS + CDX)</a:t>
            </a:r>
            <a:r>
              <a:rPr sz="1150" b="0" i="0">
                <a:solidFill>
                  <a:srgbClr val="6A6A6A"/>
                </a:solidFill>
                <a:latin typeface="Calibri"/>
              </a:rPr>
              <a:t>  →  this is B in SNH / IH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032504"/>
            <a:ext cx="146304" cy="14630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400507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$20m internal-only — no external offset (50.11(5))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A6A"/>
                </a:solidFill>
                <a:latin typeface="Calibri"/>
              </a:rPr>
              <a:t>not an eligible hedge → no SNH/IH credit; stays in SCVA as residual CVA.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504688"/>
            <a:ext cx="11057839" cy="8686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504688"/>
            <a:ext cx="82296" cy="8686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504688"/>
            <a:ext cx="10600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Capital follows the risk to one desk each — and the hedge benefit follows the notional actually placed with the market. The $100m transferred internally is not the hedge; the $80m externalised is. The $20m gap simply stays unhedged in SCVA.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MAR50.11(2)/(4)/(5) (perimeter); 50.20 (β floor); 50.23–24 (hedge notional)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phase4_hedges.py / phase5_k_full.py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phase4/phase5 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SINGLE-NAME HEDGES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Single-name recognition scales with how closely the hedge references the counterparty — three r_hc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3611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3611880" cy="640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0934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2E7D5B"/>
                </a:solidFill>
                <a:latin typeface="Calibri"/>
              </a:rPr>
              <a:t>100%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  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6654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Reference name = the counterparty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1463040"/>
            <a:ext cx="3611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611880" cy="6400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0934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B8862E"/>
                </a:solidFill>
                <a:latin typeface="Calibri"/>
              </a:rPr>
              <a:t>80%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   legal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6654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Reference name legally related (parent/subsidiary)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6" y="1463040"/>
            <a:ext cx="3611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6" y="1463040"/>
            <a:ext cx="36118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60934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C2453C"/>
                </a:solidFill>
                <a:latin typeface="Calibri"/>
              </a:rPr>
              <a:t>50%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   sector_region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06654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Same sector &amp; region as the counterparty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974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SNH_c = Σ_h  r_hc · M_h · B_h · DF_h · RW_h</a:t>
            </a:r>
            <a:r>
              <a:rPr sz="1300" b="1" i="0">
                <a:solidFill>
                  <a:srgbClr val="C2453C"/>
                </a:solidFill>
                <a:latin typeface="Calibri"/>
              </a:rPr>
              <a:t>       HMA_c = Σ_h (1 − r_hc²) · (RW_h·M_h·B_h·DF_h)²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0040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6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Single-name hedges in the reference book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3474720"/>
          <a:ext cx="8138160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1554480"/>
                <a:gridCol w="1280160"/>
                <a:gridCol w="640080"/>
                <a:gridCol w="640080"/>
                <a:gridCol w="822960"/>
                <a:gridCol w="73152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Hedge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Counterparty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r_hc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M_h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B_h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RW_h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SNH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HMA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American Airlines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E7D5B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2C4B"/>
                          </a:solidFill>
                          <a:latin typeface="Calibri"/>
                        </a:rPr>
                        <a:t>18.80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9D4C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Bombardier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B8862E"/>
                          </a:solidFill>
                          <a:latin typeface="Calibri"/>
                        </a:rPr>
                        <a:t>legal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2C4B"/>
                          </a:solidFill>
                          <a:latin typeface="Calibri"/>
                        </a:rPr>
                        <a:t>8.12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C2453C"/>
                          </a:solidFill>
                          <a:latin typeface="Calibri"/>
                        </a:rPr>
                        <a:t>37.10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OneMain Financial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2453C"/>
                          </a:solidFill>
                          <a:latin typeface="Calibri"/>
                        </a:rPr>
                        <a:t>sector_region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2C4B"/>
                          </a:solidFill>
                          <a:latin typeface="Calibri"/>
                        </a:rPr>
                        <a:t>9.29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C2453C"/>
                          </a:solidFill>
                          <a:latin typeface="Calibri"/>
                        </a:rPr>
                        <a:t>258.87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A direct hedge (r=1) earns full SNH and zero HMA. As the link weakens (80%→50%), SNH shrinks and the misalignment add-back HMA grows — a proxy hedge can never zero the charge.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MAR50.23 (SNH), 50.25 (HMA), 50.26 (r_hc)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phase4_hedges.py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phase4_hedges.xlsx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INDEX HEDGES  ·  LOOK-THROUGH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Two index hedges, each built bottom-up from its constituents — CDX.NA.IG (125) and CDX.NA.HY (100)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6492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MAR50.24(4)(b): a multi-sector index uses the </a:t>
            </a:r>
            <a:r>
              <a:rPr sz="1250" b="1" i="0">
                <a:solidFill>
                  <a:srgbClr val="0E2C4B"/>
                </a:solidFill>
                <a:latin typeface="Calibri"/>
              </a:rPr>
              <a:t>name-weighted average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of constituents' Table-1 risk weights, then </a:t>
            </a:r>
            <a:r>
              <a:rPr sz="1250" b="1" i="0">
                <a:solidFill>
                  <a:srgbClr val="C2453C"/>
                </a:solidFill>
                <a:latin typeface="Calibri"/>
              </a:rPr>
              <a:t>× 0.7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for within-index diversification.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86000"/>
          <a:ext cx="649224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777240"/>
                <a:gridCol w="1005840"/>
                <a:gridCol w="1051560"/>
                <a:gridCol w="960120"/>
                <a:gridCol w="11430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names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rw_base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RW_i ×0.7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IH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cleared?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CDX.NA.IG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2.736%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C2453C"/>
                          </a:solidFill>
                          <a:latin typeface="Calibri"/>
                        </a:rPr>
                        <a:t>1.915%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$8.47m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5B"/>
                          </a:solidFill>
                          <a:latin typeface="Calibri"/>
                        </a:rPr>
                        <a:t>✓ QCCP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CDX.NA.HY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7.765%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C2453C"/>
                          </a:solidFill>
                          <a:latin typeface="Calibri"/>
                        </a:rPr>
                        <a:t>5.436%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$15.76m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5B"/>
                          </a:solidFill>
                          <a:latin typeface="Calibri"/>
                        </a:rPr>
                        <a:t>✓ QCCP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160520"/>
            <a:ext cx="6492240" cy="1143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82296" cy="114300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261104"/>
            <a:ext cx="6035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8862E"/>
                </a:solidFill>
                <a:latin typeface="Calibri"/>
              </a:rPr>
              <a:t>OPTION-B &amp; THE HONEST APPROXIMATION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IG: healthcare/utility names reclassified into the 1.5% bucket per-name. HY: the annex's combined sectors ('Energy &amp; Utilities', 'Non-Cyclical &amp; Healthcare') can't be cleanly split, so they map to the dominant sector — a documented, slightly conservative approximation.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3716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7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rw_base and RW_i per index</a:t>
            </a:r>
          </a:p>
        </p:txBody>
      </p:sp>
      <p:pic>
        <p:nvPicPr>
          <p:cNvPr id="11" name="Picture 10" descr="idx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91640"/>
            <a:ext cx="4663440" cy="276670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HY's blended RW (7.8%) dwarfs IG's (2.74%) — an index hedge of HY exposure carries far more weight. Both are QCCP-cleared, so neither adds any seller CVA.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MAR50.24(4)(b); CDX.NA.IG annex + CDX.NA.HY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phase4_hedges.py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phase4_hedges.xlsx → 50/51/52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Β &amp; K_HEDGED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K_full blends the hedged and reduced charges — β floors the hedge benefit at 75%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6675120" cy="13716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17904"/>
            <a:ext cx="6400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K_hedged = √[ (ρ·Σ(SCVA−SNH) − IH)²</a:t>
            </a:r>
            <a:r>
              <a:rPr sz="1000" b="0" i="0">
                <a:solidFill>
                  <a:srgbClr val="9DB4CC"/>
                </a:solidFill>
                <a:latin typeface="Calibri"/>
              </a:rPr>
              <a:t>  systematic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              + (1−ρ²)·Σ(SCVA−SNH)²</a:t>
            </a:r>
            <a:r>
              <a:rPr sz="1000" b="0" i="0">
                <a:solidFill>
                  <a:srgbClr val="9DB4CC"/>
                </a:solidFill>
                <a:latin typeface="Calibri"/>
              </a:rPr>
              <a:t>  idiosyncratic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              + Σ HMA_c ]</a:t>
            </a:r>
            <a:r>
              <a:rPr sz="1000" b="0" i="0">
                <a:solidFill>
                  <a:srgbClr val="9DB4CC"/>
                </a:solidFill>
                <a:latin typeface="Calibri"/>
              </a:rPr>
              <a:t>  misalignment add-back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4F1EA"/>
                </a:solidFill>
                <a:latin typeface="Calibri"/>
              </a:rPr>
              <a:t>K_full = β·K_reduced + (1−β)·K_hedged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71800"/>
            <a:ext cx="1005840" cy="36576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71800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71800"/>
            <a:ext cx="5760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systematic &amp; idiosyncratic 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lowers both terms — direct credit offset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29000"/>
            <a:ext cx="1005840" cy="36576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29000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3429000"/>
            <a:ext cx="5760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systematic only 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one scalar; index hedges the common factor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86200"/>
            <a:ext cx="1005840" cy="365760"/>
          </a:xfrm>
          <a:prstGeom prst="round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86200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886200"/>
            <a:ext cx="5760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idiosyncratic floor 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adds back proxy-hedge basis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371600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8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K_reduced → K_hedged → K_full</a:t>
            </a:r>
          </a:p>
        </p:txBody>
      </p:sp>
      <p:pic>
        <p:nvPicPr>
          <p:cNvPr id="17" name="Picture 16" descr="khed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0"/>
            <a:ext cx="4206240" cy="237021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Hedges cut the charge from K_reduced $55.2m to K_hedged $33.1m, but β=0.25 holds K_full at $38.6m — hedging can remove at most 75% of the charge.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MAR50.20–22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phase5_k_full.py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phase5_k_full.xlsx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HEDGE-SELLER CVA &amp; CLEARING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Buying a hedge creates a new CVA on the seller — small, and zero when the trade is cleared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MAR50.11(1): a bilateral CDS is a </a:t>
            </a:r>
            <a:r>
              <a:rPr sz="1250" b="1" i="0">
                <a:solidFill>
                  <a:srgbClr val="0E2C4B"/>
                </a:solidFill>
                <a:latin typeface="Calibri"/>
              </a:rPr>
              <a:t>covered transaction of the seller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, so the IG dealer gets its own CVA — but tiny next to the HY CVA removed. A </a:t>
            </a:r>
            <a:r>
              <a:rPr sz="1250" b="1" i="0">
                <a:solidFill>
                  <a:srgbClr val="C2453C"/>
                </a:solidFill>
                <a:latin typeface="Calibri"/>
              </a:rPr>
              <a:t>QCCP-cleared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hedge isn't a covered transaction at all (MAR50.5), so it adds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9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SNH benefit vs seller CVA added (bilateral single-name)</a:t>
            </a:r>
          </a:p>
        </p:txBody>
      </p:sp>
      <p:pic>
        <p:nvPicPr>
          <p:cNvPr id="7" name="Picture 6" descr="seller_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97480"/>
            <a:ext cx="5486400" cy="310026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37960" y="2423160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2423160"/>
            <a:ext cx="64008" cy="10241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25328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BILATERAL single-name CDS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807208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Faces an IG dealer → seller CVA applies. Total added across the 3 hedges: $3.15m — vs $36.2m of SNH benefit (~9% give-back).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3538728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3538728"/>
            <a:ext cx="64008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36484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7D5B"/>
                </a:solidFill>
                <a:latin typeface="Calibri"/>
              </a:rPr>
              <a:t>QCCP-CLEARED index CDX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922776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Faces the QCCP → not a covered transaction (MAR50.5) → zero seller CVA. Both CDX.NA.IG and CDX.NA.HY are cleared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4654296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4654296"/>
            <a:ext cx="64008" cy="102412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47640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8862E"/>
                </a:solidFill>
                <a:latin typeface="Calibri"/>
              </a:rPr>
              <a:t>NOT 'dealer hedges via CCP'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38344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If you trade bilaterally and the DEALER lays off to a CCP, you still face the dealer → you still have its CVA. Zero only when YOUR trade faces the QCCP.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The asymmetry is the point: a hedge bought from a strong, collateralised IG dealer removes a large HY CVA and adds only $3.15m of seller CVA — and clearing removes even that.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MAR50.11(1) (seller CVA); MAR50.5 (QCCP exclusion)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phase2_scva.py (dealer netting sets)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RESULT  ·  ALL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Full BA-CVA: $313.7m RWA from $541.0m of 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EXHIBIT 10</a:t>
            </a:r>
            <a:r>
              <a:rPr sz="950" b="0" i="1">
                <a:solidFill>
                  <a:srgbClr val="6A6A6A"/>
                </a:solidFill>
                <a:latin typeface="Calibri"/>
              </a:rPr>
              <a:t>   From K_reduced/K_hedged to capital and RWA ($m)</a:t>
            </a:r>
          </a:p>
        </p:txBody>
      </p:sp>
      <p:pic>
        <p:nvPicPr>
          <p:cNvPr id="6" name="Picture 5" descr="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7223760" cy="30630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1572768"/>
            <a:ext cx="3794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572768"/>
            <a:ext cx="379476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737360"/>
            <a:ext cx="3502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C2453C"/>
                </a:solidFill>
                <a:latin typeface="Calibri"/>
              </a:rPr>
              <a:t>$313.7m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2212848"/>
            <a:ext cx="3502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RWA (full BA-CVA)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2487168"/>
            <a:ext cx="350215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A6A"/>
                </a:solidFill>
                <a:latin typeface="Calibri"/>
              </a:rPr>
              <a:t>= 12.5 × Capital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907792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2907792"/>
            <a:ext cx="182880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3072384"/>
            <a:ext cx="15361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E2C4B"/>
                </a:solidFill>
                <a:latin typeface="Calibri"/>
              </a:rPr>
              <a:t>$38.6m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3547872"/>
            <a:ext cx="15361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K_full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3685032"/>
            <a:ext cx="153619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β·K_red+(1−β)·K_hedg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2907792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29800" y="2907792"/>
            <a:ext cx="182880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6104" y="3072384"/>
            <a:ext cx="15361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355574"/>
                </a:solidFill>
                <a:latin typeface="Calibri"/>
              </a:rPr>
              <a:t>$25.1m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76104" y="3547872"/>
            <a:ext cx="15361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3685032"/>
            <a:ext cx="153619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DS × K_full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863840" y="4114800"/>
          <a:ext cx="379476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46304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Σ SCVA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$89.11m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K_reduced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$55.18m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IH (index)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$24.24m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K_hedged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$33.09m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K_full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E2C4B"/>
                          </a:solidFill>
                          <a:latin typeface="Calibri"/>
                        </a:rPr>
                        <a:t>$38.61m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66928" y="4553712"/>
            <a:ext cx="7223760" cy="9144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553712"/>
            <a:ext cx="82296" cy="9144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45152"/>
            <a:ext cx="6858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DS = 0.65 — a deliberate 35% recalibration (Capital = DS·K_full)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2020 targeted revisions judged the standardised BA-CVA over-conservative and recalibrated it to align with the (reduced) FRTB framework — a flat supervisory dial, which is why it lives in config as one constant.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Every figure here is produced by the live engine and snapshot to an auditable Excel per phase — any reviewer can re-run any step from the prior phase's output.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MAR50.1, 50.20–22; 2020 targeted revisions (DS)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run_all.py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phase1…phase5 .xlsx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ENGINEERING  ·  MODULE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E2C4B"/>
                </a:solidFill>
                <a:latin typeface="Calibri"/>
              </a:rPr>
              <a:t>A modular, config-driven engine — one phase per transform, every number golden-tested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7839" cy="54864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26464"/>
            <a:ext cx="106006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run_all.py</a:t>
            </a:r>
            <a:r>
              <a:rPr sz="1050" b="0" i="0">
                <a:solidFill>
                  <a:srgbClr val="CFD8E2"/>
                </a:solidFill>
                <a:latin typeface="Calibri"/>
              </a:rPr>
              <a:t>   — orchestrates phases 1→5 in strict dependency order, then the QA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4028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2194560" cy="3108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4028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42616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phase1_inputs.py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6324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M_NS (CRE32.49) + 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520440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A6A"/>
                </a:solidFill>
                <a:latin typeface="Calibri"/>
              </a:rPr>
              <a:t>phase1_inputs.xlsx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97480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2453C"/>
                </a:solidFill>
                <a:latin typeface="Calibri"/>
              </a:rP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24028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2240280"/>
            <a:ext cx="2194560" cy="3108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24028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642616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phase2_scva.py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06324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SCVA per counterparty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20440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A6A"/>
                </a:solidFill>
                <a:latin typeface="Calibri"/>
              </a:rPr>
              <a:t>phase2_scva.xlsx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2697480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2453C"/>
                </a:solidFill>
                <a:latin typeface="Calibri"/>
              </a:rP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93792" y="224028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93792" y="2240280"/>
            <a:ext cx="2194560" cy="3108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224028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642616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phase3_k_reduced.py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306324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K_reduced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520440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A6A"/>
                </a:solidFill>
                <a:latin typeface="Calibri"/>
              </a:rPr>
              <a:t>phase3_k_reduced.xlsx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2697480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2453C"/>
                </a:solidFill>
                <a:latin typeface="Calibri"/>
              </a:rPr>
              <a:t>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07224" y="224028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07224" y="2240280"/>
            <a:ext cx="2194560" cy="310896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4" y="224028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642616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phase4_hedges.py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06324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SNH / IH / HMA (+ IG &amp; HY look-through)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520440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A6A"/>
                </a:solidFill>
                <a:latin typeface="Calibri"/>
              </a:rPr>
              <a:t>phase4_hedges.xlsx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3496" y="2697480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2453C"/>
                </a:solidFill>
                <a:latin typeface="Calibri"/>
              </a:rPr>
              <a:t>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0656" y="224028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0656" y="2240280"/>
            <a:ext cx="2194560" cy="3108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0656" y="224028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8672" y="2642616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phase5_k_full.py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306324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K_hedged · K_full · RWA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8672" y="3520440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A6A"/>
                </a:solidFill>
                <a:latin typeface="Calibri"/>
              </a:rPr>
              <a:t>phase5_k_full.xlsx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14800"/>
            <a:ext cx="274320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114800"/>
            <a:ext cx="27432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2245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phase_snapshot.py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51713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A6A"/>
                </a:solidFill>
                <a:latin typeface="Calibri"/>
              </a:rPr>
              <a:t>shared 5-sheet writer (+ optional 50+ appendix sheets)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2152" y="4114800"/>
            <a:ext cx="274320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02152" y="4114800"/>
            <a:ext cx="27432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48456" y="42245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config_loader.py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48456" y="451713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A6A"/>
                </a:solidFill>
                <a:latin typeface="Calibri"/>
              </a:rPr>
              <a:t>all constants &amp; tables from BA_CVA_Config.xlsx — nothing hardcoded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37376" y="4114800"/>
            <a:ext cx="274320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37376" y="4114800"/>
            <a:ext cx="27432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2245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maturity.py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51713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A6A"/>
                </a:solidFill>
                <a:latin typeface="Calibri"/>
              </a:rPr>
              <a:t>M_NS per CRE32.49, per-product trade maturity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4114800"/>
            <a:ext cx="274320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72600" y="4114800"/>
            <a:ext cx="27432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18904" y="42245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qa_suite.py + _qa_*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18904" y="451713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A6A"/>
                </a:solidFill>
                <a:latin typeface="Calibri"/>
              </a:rPr>
              <a:t>goldens (RWA 55.23), no-hedge collapse, baseline bit-lock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One concern per phase, strict dependency order, every constant in config, and every number locked by a golden + a bit-identical baseline — a Basel update is a data edit, not a code change.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64922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950" b="0" i="0">
                <a:solidFill>
                  <a:srgbClr val="6A6A6A"/>
                </a:solidFill>
                <a:latin typeface="Calibri"/>
              </a:rPr>
              <a:t>Model/ — phases 1–5 + maturity, config, phase_snapshot, qa_suite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0328" y="6492240"/>
            <a:ext cx="6163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run_all.py</a:t>
            </a:r>
            <a:r>
              <a:rPr sz="9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950" b="0" i="0">
                <a:solidFill>
                  <a:srgbClr val="355574"/>
                </a:solidFill>
                <a:latin typeface="Calibri"/>
              </a:rPr>
              <a:t>5 phase snapshots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